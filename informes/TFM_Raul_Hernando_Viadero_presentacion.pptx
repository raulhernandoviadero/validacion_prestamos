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FA918-4425-EFD9-D10D-DC7C0453DE3C}" v="2" dt="2026-07-24T12:29:03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AAC0F-E8B1-442F-9B95-EB016B89CC69}" type="datetimeFigureOut">
              <a:t>24/07/2026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9A817-4D43-4147-980E-E7E87857AF73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989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TFM. Sistema automático que verifica expedientes de préstamo: DNI + formulario.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dolores: coste, inconsistencia entre revisores y fraude digital sofisticado.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de cribado: no sustituye al analista, filtra el 90% de casos claros.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YOLO detecta, EasyOCR lee, postprocesador corrige, ResNet autentica, motor de reglas valida, veredicto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sintéticos con Faker es_ES + Pillow. Reproducible con semilla 42. Ventaja RGPD y de anotación exacta.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mAP50 99,5% en ambos modelos. El postprocesador sube la precisión de importes de &lt;60% a ~90%.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con severidad. Similitud tolerante a errores de OCR (Levenshtein 85%). Verificaciones aritméticas gratis: letra NIF, dígitos MRZ, cuota francesa.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 del split de test. El analista vería este resultado y podría tramitar sin revisar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Transparencia: el detalle por regla convierte un 'no' opaco en información accionable.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92,8% supera el objetivo del 90%. En GPU bajaría de 1 segundo por expediente.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+ FastAPI + Docker Compose. Demo en vivo disponible en localhost:8501.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conclusiones para no técnicos: datos sintéticos, eslabón débil, validaciones aritméticas, explicabilidad.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los dos enlaces de entrega: GitHub (código) y Drive (entregables).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F2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MÁSTER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59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Documental de Identidad y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Préstamo mediante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Artificial y Deep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442716" y="43891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8A0A23"/>
          </a:solidFill>
          <a:ln/>
        </p:spPr>
      </p:sp>
      <p:sp>
        <p:nvSpPr>
          <p:cNvPr id="5" name="Text 3"/>
          <p:cNvSpPr/>
          <p:nvPr/>
        </p:nvSpPr>
        <p:spPr>
          <a:xfrm>
            <a:off x="3442716" y="4389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Raúl Hernando Viadero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Manuel Moreno Lamparero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Inteligencia Artificial  ·  Madrid, junio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verificar expedientes a mano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solicitud de préstamo obliga a comparar el DNI con el formulario, dato a dato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y costoso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analista dedica entre 10 y 20 minutos a cada expediente. Miles de solicitudes al día significan equipos enteros dedicados solo a comprobar documentos.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desiguales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revisores pueden llegar a conclusiones distintas sobre el mismo expediente según su experiencia o su cansancio.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2880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468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cada vez más difícil de 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edición digital permiten falsificar un documento de forma imperceptible para el ojo humano.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automatizar esta revisión sin perder rigor?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un verificador automático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los dos documentos y emite un veredicto razonado en segundos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DNI del solicitante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Formulario de préstamo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0" y="3063240"/>
            <a:ext cx="1188720" cy="914400"/>
          </a:xfrm>
          <a:prstGeom prst="rightArrow">
            <a:avLst/>
          </a:prstGeom>
          <a:solidFill>
            <a:srgbClr val="BA0C2F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0" y="1737360"/>
            <a:ext cx="3108960" cy="3566160"/>
          </a:xfrm>
          <a:prstGeom prst="roundRect">
            <a:avLst>
              <a:gd name="adj" fmla="val 2353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24688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los campos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corrige el texto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la autenticidad</a:t>
            </a:r>
            <a:endParaRPr lang="en-US" sz="14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los datos con 9 reglas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95360" y="3063240"/>
            <a:ext cx="1188720" cy="914400"/>
          </a:xfrm>
          <a:prstGeom prst="rightArrow">
            <a:avLst/>
          </a:prstGeom>
          <a:solidFill>
            <a:srgbClr val="BA0C2F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0" y="1737360"/>
            <a:ext cx="1691640" cy="3566160"/>
          </a:xfrm>
          <a:prstGeom prst="roundRect">
            <a:avLst>
              <a:gd name="adj" fmla="val 4324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966960" y="1920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6960" y="23774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6960" y="3749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veredicto va acompañado de una puntuación de confianza y del detalle de todas las comprobaciones: el analista solo revisa los casos dudosos.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por dentro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pasos encadenados — si uno falla, el sistema avisa pero nunca se detiene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dónde está cada campo en la imagen (nombre, NIF, importe...)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847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el texto de cada campo con reconocimiento óptico (OCR)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847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fechas, importes y nombres, corrigiendo errores de lectura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 si el documento presenta signos de manipulación digital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5196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DNI y formulario con 9 reglas de negocio (R01 a R09)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5196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el veredicto con su nivel de confianza y el detalle por regla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datos: 100% sintéticos, 0% datos personales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persona real aparece en este proyecto — cumplimiento total del RGPD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entrenar una IA hacen falta miles de documentos... pero usar DNIs reales está (con razón) muy restringido por la ley de protección de datos. La solución: fabricar documentos falsos pero estructuralmente perfectos.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completos generados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(DNI + formulario)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560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entrenamiento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 augmentación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560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30936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errores y fraudes deliberados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enseñar al sistema a detectarlos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0" y="25603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44000" y="3429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válidos: letras de NIF, códigos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y cuotas correctas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importa: </a:t>
            </a: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DNI sintético tiene una letra de control calculada con el algoritmo oficial (77898694 → V), una zona de lectura mecánica que cumple el estándar internacional de pasaportes, y cada préstamo tiene su cuota calculada con la fórmula bancaria real. Si los datos falsos no fueran rigurosos, la IA aprendería atajos y fallaría con documentos de verdad.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Primero, encontrar y leer cada campo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redes neuronales localizan los campos; un motor OCR los transcribe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(YOLOv8)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aprende dónde está cada uno de los 9 campos del DNI y los 14 del formulario, y los recorta como si usara unas tijeras digitales.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precisión de detección — no se le escapa ni un campo (recall del 100%)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corregir (OCR)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OCR comete errores típicos que un corrector inteligente arregla según el tipo de campo: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OCR lee...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3017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8116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sistema entiende...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584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JAC0BO  (con cero)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15400" y="35844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81160" y="35844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JACOBO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1513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15 03 1985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415137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41513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15/03/1985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7183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334.631 €lmes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47183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47183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334,63 €/mes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5285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27,182.13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15400" y="528523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5285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27.182,13 €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del sistema: 9 reglas de coherencia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comprobaciones que haría un analista experto, aplicadas siempre igual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56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56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R01–R02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y los apellidos coinciden en ambos documentos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856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856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NIF es el mismo y su letra de control es matemáticamente válida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999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99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834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 nacimiento coincide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999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999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2834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DNI no está caducado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142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42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977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solicitante es mayor de edad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886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142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42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3977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cuota no supera el 35% de los ingresos (límite de endeudamiento)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285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285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5120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importe está dentro de la política del producto (1.000–100.000 €)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50292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7F0F1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5285232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2852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43800" y="5120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documento muestra signos de manipulación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en cualquier regla marca el expediente como INCONSISTENTE y lo envía a revisión humana.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1: expediente correcto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EXP00009 — Jacobo Lobo Agudo (solicitante sintético)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detectados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677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del DNI y 14 del formulario, todos localizados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92608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880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extraído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3192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77898694V (98% conf.) · JACOBO LOBO AGUDO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97764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31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3708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documentos legítimos (97% y 96%)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02920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983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42239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9 reglas superadas · ratio de deuda 24,8% &lt; 35%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35240" y="1554480"/>
            <a:ext cx="4023360" cy="4663440"/>
          </a:xfrm>
          <a:prstGeom prst="roundRect">
            <a:avLst>
              <a:gd name="adj" fmla="val 1818"/>
            </a:avLst>
          </a:prstGeom>
          <a:solidFill>
            <a:srgbClr val="E6F4EA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2468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APTO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635240" y="3566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96,1%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63524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confianza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5212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 en 8,8 segundos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2: expediente con problemas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solo dice 'no' — explica exactamente qué falla y por qué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reglas fallan: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126480" cy="1600200"/>
          </a:xfrm>
          <a:prstGeom prst="roundRect">
            <a:avLst>
              <a:gd name="adj" fmla="val 3429"/>
            </a:avLst>
          </a:prstGeom>
          <a:solidFill>
            <a:srgbClr val="FCE8E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68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 · Apellidos distintos
</a:t>
            </a: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DNI dice </a:t>
            </a:r>
            <a:r>
              <a:rPr lang="en-US" sz="13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GARCÍA RUIZ</a:t>
            </a: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pero el formulario dice </a:t>
            </a:r>
            <a:r>
              <a:rPr lang="en-US" sz="13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GÓMEZ RUIZ</a:t>
            </a: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similitud del 81,8%, por debajo del umbral del 85%.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069080"/>
            <a:ext cx="6126480" cy="1600200"/>
          </a:xfrm>
          <a:prstGeom prst="roundRect">
            <a:avLst>
              <a:gd name="adj" fmla="val 3429"/>
            </a:avLst>
          </a:prstGeom>
          <a:solidFill>
            <a:srgbClr val="FCE8E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06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R07 · Endeudamiento excesivo
</a:t>
            </a: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de 1.150 € con ingresos de 2.800 €: el 41,1% del sueldo, cuando el máximo prudencial es el 35%.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35240" y="1554480"/>
            <a:ext cx="4023360" cy="4663440"/>
          </a:xfrm>
          <a:prstGeom prst="roundRect">
            <a:avLst>
              <a:gd name="adj" fmla="val 1818"/>
            </a:avLst>
          </a:prstGeom>
          <a:solidFill>
            <a:srgbClr val="FCE8E6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INCONSISTENTE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35240" y="3566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61,3%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635240" y="4389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confianza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35240" y="5029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analista sabe exactamente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revisar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¿Funciona? Los números dicen que sí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sobre 50 expedientes de prueba nunca vistos por los modelos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acierto en el veredicto final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(precisión)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29768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fraudulentos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 (recall 91,7%)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seg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955280" y="2606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expediente en un ordenador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sin tarjeta gráfica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31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además...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distingue: los expedientes correctos puntúan de media 93% y los problemáticos 68% — la zona intermedia puede priorizarse para revisión humana.
Detección conservadora del fraude: cuando el sistema marca un documento como manipulado, acierta el 100% de las veces — cero falsas alarmas.
Calidad de software: 77 tests automáticos y despliegue reproducible con un solo comando (Docker).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práctica: la aplicación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un experimento — es un sistema completo listo para usar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377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analista arrastra los dos documentos, pulsa un botón y explora el veredicto con todo el detalle: reglas, textos leídos, riesgo y autenticidad.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PDF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2377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verificación puede exportarse como informe PDF para adjuntarlo al expediente administrativo del banco.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🔌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002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otros sistemas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663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permite que cualquier aplicación del banco (CRM, gestor documental) pida verificaciones automáticamente.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0" y="46634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muestra la actividad: cuántos expedientes se aprueban, qué reglas fallan más y los tiempos de proceso.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hemos aprendido construyendo este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puede fabricar sus propios datos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 documentos 100% sintéticos funciona: precisión del 99,5% en detección sin usar ni un dato personal real. Privacidad y rendimiento no están reñidos.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828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vale lo que su eslabón más débil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más rentable no fue afinar las redes neuronales, sino corregir inteligentemente los errores del OCR: sin ello, los importes se leían mal el 40% de las veces.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matemáticas gratis son oro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letra del NIF, los códigos del DNI y la fórmula de la cuota permiten detectar errores sin ningún modelo: comprobaciones instantáneas e infalibles.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7F0F1"/>
          </a:solidFill>
          <a:ln/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60520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ante todo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explica cada decisión regla a regla genera confianza y permite al analista actuar — clave en un sector regulado como la banca.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27839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725912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000" i="1" dirty="0">
              <a:solidFill>
                <a:srgbClr val="F2C8D0"/>
              </a:solidFill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63040" y="3383280"/>
            <a:ext cx="9235440" cy="2103120"/>
          </a:xfrm>
          <a:prstGeom prst="roundRect">
            <a:avLst>
              <a:gd name="adj" fmla="val 4348"/>
            </a:avLst>
          </a:prstGeom>
          <a:solidFill>
            <a:srgbClr val="8A0A23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35661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proyecto es público y reproducible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(GitHub, rama main):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github.com/RaulHernandoViadero/validacion_prestamos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Memoria, modelos y demos (Drive):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drive.google.com/drive/folders/12o5FB6JG_kleyK3k2oIzZ6uFLf3RWBm6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Raúl Hernando Viadero  ·  Tutor: Juan Manuel Moreno Lamparero  ·  Máster en Inteligencia Artificial  ·  junio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</cp:revision>
  <dcterms:created xsi:type="dcterms:W3CDTF">2026-07-24T12:18:40Z</dcterms:created>
  <dcterms:modified xsi:type="dcterms:W3CDTF">2026-07-24T12:29:23Z</dcterms:modified>
</cp:coreProperties>
</file>